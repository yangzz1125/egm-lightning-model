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3" r:id="rId3"/>
    <p:sldId id="512" r:id="rId5"/>
    <p:sldId id="506" r:id="rId6"/>
    <p:sldId id="547" r:id="rId7"/>
    <p:sldId id="528" r:id="rId8"/>
    <p:sldId id="542" r:id="rId9"/>
    <p:sldId id="552" r:id="rId10"/>
    <p:sldId id="553" r:id="rId11"/>
    <p:sldId id="554" r:id="rId12"/>
    <p:sldId id="555" r:id="rId13"/>
    <p:sldId id="560" r:id="rId14"/>
    <p:sldId id="561" r:id="rId15"/>
    <p:sldId id="531" r:id="rId16"/>
    <p:sldId id="556" r:id="rId17"/>
    <p:sldId id="562" r:id="rId18"/>
    <p:sldId id="564" r:id="rId19"/>
    <p:sldId id="56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曾婷 王" initials="曾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BF4"/>
    <a:srgbClr val="EDF1F2"/>
    <a:srgbClr val="F7FBFC"/>
    <a:srgbClr val="EEF1F6"/>
    <a:srgbClr val="F5F9FA"/>
    <a:srgbClr val="F6FAFB"/>
    <a:srgbClr val="1F548A"/>
    <a:srgbClr val="EFB7D1"/>
    <a:srgbClr val="004593"/>
    <a:srgbClr val="006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1" autoAdjust="0"/>
    <p:restoredTop sz="93724" autoAdjust="0"/>
  </p:normalViewPr>
  <p:slideViewPr>
    <p:cSldViewPr snapToGrid="0">
      <p:cViewPr varScale="1">
        <p:scale>
          <a:sx n="91" d="100"/>
          <a:sy n="91" d="100"/>
        </p:scale>
        <p:origin x="114" y="5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16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ustomXml" Target="../customXml/item3.xml"/><Relationship Id="rId26" Type="http://schemas.openxmlformats.org/officeDocument/2006/relationships/customXml" Target="../customXml/item2.xml"/><Relationship Id="rId25" Type="http://schemas.openxmlformats.org/officeDocument/2006/relationships/customXml" Target="../customXml/item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7B4F6-38B3-4F9C-B5DD-388BFB0B23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B8E31-3B59-4646-A59C-A82C2976AFE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2D13F-7B97-CA43-8838-349D52A5DCF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image" Target="../media/image5.jpeg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9.xml"/><Relationship Id="rId15" Type="http://schemas.openxmlformats.org/officeDocument/2006/relationships/image" Target="../media/image6.png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image" Target="../media/image8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tags" Target="../tags/tag28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../media/image14.png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Relationship Id="rId3" Type="http://schemas.openxmlformats.org/officeDocument/2006/relationships/image" Target="../media/image4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19.png"/><Relationship Id="rId2" Type="http://schemas.openxmlformats.org/officeDocument/2006/relationships/tags" Target="../tags/tag4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818083" y="616727"/>
            <a:ext cx="2471217" cy="59669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t="20698" b="20698"/>
          <a:stretch>
            <a:fillRect/>
          </a:stretch>
        </p:blipFill>
        <p:spPr bwMode="auto">
          <a:xfrm>
            <a:off x="4856126" y="1718187"/>
            <a:ext cx="7335874" cy="286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718187"/>
            <a:ext cx="8882743" cy="286155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83000">
                <a:schemeClr val="accent1">
                  <a:alpha val="60050"/>
                </a:schemeClr>
              </a:gs>
              <a:gs pos="0">
                <a:schemeClr val="accent2"/>
              </a:gs>
              <a:gs pos="63000">
                <a:srgbClr val="0361A6"/>
              </a:gs>
              <a:gs pos="44226">
                <a:srgbClr val="0259A0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13690" y="2623820"/>
            <a:ext cx="1179576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输电线路耐雷性能计算建模</a:t>
            </a:r>
            <a:endParaRPr lang="zh-CN" altLang="en-US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645025" y="5084445"/>
            <a:ext cx="3208020" cy="402112"/>
            <a:chOff x="4077" y="8205"/>
            <a:chExt cx="5052" cy="633"/>
          </a:xfrm>
        </p:grpSpPr>
        <p:cxnSp>
          <p:nvCxnSpPr>
            <p:cNvPr id="7" name="直线连接符 10"/>
            <p:cNvCxnSpPr/>
            <p:nvPr/>
          </p:nvCxnSpPr>
          <p:spPr>
            <a:xfrm>
              <a:off x="4230" y="8838"/>
              <a:ext cx="47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077" y="8205"/>
              <a:ext cx="22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</a:t>
              </a:r>
              <a:endPara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379" y="8205"/>
              <a:ext cx="27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杨国炜</a:t>
              </a:r>
              <a:endParaRPr kumimoji="1" lang="zh-CN" altLang="en-US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AutoShape 4"/>
          <p:cNvSpPr>
            <a:spLocks noChangeAspect="1" noChangeArrowheads="1"/>
          </p:cNvSpPr>
          <p:nvPr/>
        </p:nvSpPr>
        <p:spPr bwMode="auto">
          <a:xfrm>
            <a:off x="5943600" y="3054929"/>
            <a:ext cx="154305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9845" y="5701030"/>
            <a:ext cx="2520315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kumimoji="1" lang="zh-CN" altLang="en-US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kumimoji="1" lang="zh-CN" altLang="en-US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12700"/>
            <a:ext cx="11646551" cy="6857998"/>
            <a:chOff x="0" y="0"/>
            <a:chExt cx="11646551" cy="6857998"/>
          </a:xfrm>
        </p:grpSpPr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3133195" y="2832282"/>
              <a:ext cx="63080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二、反击耐雷性能计算与</a:t>
              </a:r>
              <a:r>
                <a:rPr kumimoji="1"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建模</a:t>
              </a:r>
              <a:endPara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3133195" y="1668525"/>
              <a:ext cx="65854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一、研究</a:t>
              </a:r>
              <a:r>
                <a:rPr kumimoji="1"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背景</a:t>
              </a:r>
              <a:endPara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线连接符 9"/>
            <p:cNvCxnSpPr/>
            <p:nvPr/>
          </p:nvCxnSpPr>
          <p:spPr>
            <a:xfrm>
              <a:off x="1539972" y="1348352"/>
              <a:ext cx="10106579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9603207" y="592406"/>
              <a:ext cx="1800617" cy="434773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0" y="0"/>
              <a:ext cx="730468" cy="68579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39972" y="578911"/>
              <a:ext cx="19276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44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kumimoji="1" lang="zh-CN" altLang="en-US" sz="44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6"/>
              </p:custDataLst>
            </p:nvPr>
          </p:nvSpPr>
          <p:spPr>
            <a:xfrm>
              <a:off x="3949793" y="2333420"/>
              <a:ext cx="630808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spc="3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kumimoji="1" lang="en-GB" altLang="zh-CN" b="1" spc="3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3133195" y="4008302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三、绕击耐雷性能计算</a:t>
            </a:r>
            <a:endParaRPr kumimoji="1"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3133195" y="5171622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四、后续工作计划</a:t>
            </a:r>
            <a:endParaRPr kumimoji="1"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989455" y="3569970"/>
            <a:ext cx="96577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Background </a:t>
            </a:r>
            <a:endParaRPr kumimoji="1" lang="en-US" altLang="zh-CN" sz="2800" b="1" spc="3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研究背景</a:t>
            </a:r>
            <a:endParaRPr kumimoji="1"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研究背景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864235" y="1680845"/>
            <a:ext cx="4432935" cy="4036060"/>
            <a:chOff x="874" y="2789"/>
            <a:chExt cx="9506" cy="4800"/>
          </a:xfrm>
        </p:grpSpPr>
        <p:sp>
          <p:nvSpPr>
            <p:cNvPr id="31" name="矩形 30"/>
            <p:cNvSpPr/>
            <p:nvPr>
              <p:custDataLst>
                <p:tags r:id="rId3"/>
              </p:custDataLst>
            </p:nvPr>
          </p:nvSpPr>
          <p:spPr>
            <a:xfrm>
              <a:off x="960" y="2789"/>
              <a:ext cx="9420" cy="4800"/>
            </a:xfrm>
            <a:prstGeom prst="rect">
              <a:avLst/>
            </a:prstGeom>
            <a:solidFill>
              <a:schemeClr val="accent1">
                <a:alpha val="686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874" y="2817"/>
              <a:ext cx="9420" cy="4772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iS1iḑe"/>
          <p:cNvSpPr txBox="1"/>
          <p:nvPr>
            <p:custDataLst>
              <p:tags r:id="rId5"/>
            </p:custDataLst>
          </p:nvPr>
        </p:nvSpPr>
        <p:spPr>
          <a:xfrm>
            <a:off x="1163955" y="1480820"/>
            <a:ext cx="3658235" cy="43878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1.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电网核心地位与雷害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危险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097280" y="2045335"/>
            <a:ext cx="41243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500kV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线路是系统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核心网架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安全运行直接关系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电网稳定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电力系统事故中，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雷害占比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&gt;50%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雷击跳闸次数排名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第一位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518775" y="54610"/>
            <a:ext cx="5648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研究背景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50925" y="3924300"/>
            <a:ext cx="4018915" cy="1785620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6369050" y="1680845"/>
            <a:ext cx="3937635" cy="4015740"/>
            <a:chOff x="874" y="2789"/>
            <a:chExt cx="9506" cy="4800"/>
          </a:xfrm>
        </p:grpSpPr>
        <p:sp>
          <p:nvSpPr>
            <p:cNvPr id="22" name="矩形 21"/>
            <p:cNvSpPr/>
            <p:nvPr>
              <p:custDataLst>
                <p:tags r:id="rId10"/>
              </p:custDataLst>
            </p:nvPr>
          </p:nvSpPr>
          <p:spPr>
            <a:xfrm>
              <a:off x="960" y="2789"/>
              <a:ext cx="9420" cy="4800"/>
            </a:xfrm>
            <a:prstGeom prst="rect">
              <a:avLst/>
            </a:prstGeom>
            <a:solidFill>
              <a:schemeClr val="accent1">
                <a:alpha val="686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1"/>
              </p:custDataLst>
            </p:nvPr>
          </p:nvSpPr>
          <p:spPr>
            <a:xfrm>
              <a:off x="874" y="2817"/>
              <a:ext cx="9420" cy="4772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iS1iḑe"/>
          <p:cNvSpPr txBox="1"/>
          <p:nvPr>
            <p:custDataLst>
              <p:tags r:id="rId12"/>
            </p:custDataLst>
          </p:nvPr>
        </p:nvSpPr>
        <p:spPr>
          <a:xfrm>
            <a:off x="6528435" y="1499870"/>
            <a:ext cx="3658235" cy="43878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2.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高压线路特点与评估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必要性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6528435" y="2135505"/>
            <a:ext cx="45046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随着电压等级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提高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杆塔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高度，走廊宽度增加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遭受雷击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概率显著增大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准确分析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耐雷特性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是关键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7" name="图片 26"/>
          <p:cNvPicPr/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33185" y="3924300"/>
            <a:ext cx="3873500" cy="177228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8" name="iS1iḑe"/>
          <p:cNvSpPr txBox="1"/>
          <p:nvPr>
            <p:custDataLst>
              <p:tags r:id="rId16"/>
            </p:custDataLst>
          </p:nvPr>
        </p:nvSpPr>
        <p:spPr>
          <a:xfrm>
            <a:off x="3835400" y="5963920"/>
            <a:ext cx="4257675" cy="43878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对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线路耐雷性能分析是至关重要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的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989455" y="3569970"/>
            <a:ext cx="96577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Calculation and Modeling of Lightning Protection Performance of Countermeasures</a:t>
            </a:r>
            <a:endParaRPr kumimoji="1" lang="en-US" altLang="zh-CN" sz="2800" b="1" spc="3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kumimoji="1"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反击耐雷性能计算与建模</a:t>
            </a:r>
            <a:endParaRPr kumimoji="1"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反击耐雷性能的计算方法综述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006840" y="1772920"/>
            <a:ext cx="2535555" cy="991235"/>
            <a:chOff x="901" y="4452"/>
            <a:chExt cx="17506" cy="2227"/>
          </a:xfrm>
        </p:grpSpPr>
        <p:sp>
          <p:nvSpPr>
            <p:cNvPr id="23" name="矩形 22"/>
            <p:cNvSpPr/>
            <p:nvPr>
              <p:custDataLst>
                <p:tags r:id="rId2"/>
              </p:custDataLst>
            </p:nvPr>
          </p:nvSpPr>
          <p:spPr>
            <a:xfrm>
              <a:off x="920" y="4623"/>
              <a:ext cx="17487" cy="2056"/>
            </a:xfrm>
            <a:prstGeom prst="rect">
              <a:avLst/>
            </a:prstGeom>
            <a:solidFill>
              <a:schemeClr val="accent1">
                <a:alpha val="686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3"/>
              </p:custDataLst>
            </p:nvPr>
          </p:nvSpPr>
          <p:spPr>
            <a:xfrm>
              <a:off x="901" y="4452"/>
              <a:ext cx="17471" cy="21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l" fontAlgn="auto">
                <a:lnSpc>
                  <a:spcPct val="150000"/>
                </a:lnSpc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最终采用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ATP-EMTP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仿真进行建模分析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4"/>
              </p:custDataLst>
            </p:nvPr>
          </p:nvSpPr>
          <p:spPr>
            <a:xfrm>
              <a:off x="920" y="4601"/>
              <a:ext cx="17452" cy="2060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06400" y="1304925"/>
            <a:ext cx="8376920" cy="4573270"/>
            <a:chOff x="640" y="2055"/>
            <a:chExt cx="13192" cy="7202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" y="2055"/>
              <a:ext cx="13193" cy="7202"/>
            </a:xfrm>
            <a:prstGeom prst="rect">
              <a:avLst/>
            </a:prstGeom>
            <a:noFill/>
            <a:effectLst>
              <a:softEdge rad="317500"/>
            </a:effectLst>
          </p:spPr>
        </p:pic>
        <p:grpSp>
          <p:nvGrpSpPr>
            <p:cNvPr id="9" name="组合 8"/>
            <p:cNvGrpSpPr/>
            <p:nvPr/>
          </p:nvGrpSpPr>
          <p:grpSpPr>
            <a:xfrm>
              <a:off x="1435" y="2686"/>
              <a:ext cx="3756" cy="758"/>
              <a:chOff x="1435" y="2686"/>
              <a:chExt cx="3756" cy="758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435" y="2686"/>
                <a:ext cx="3756" cy="758"/>
              </a:xfrm>
              <a:prstGeom prst="rect">
                <a:avLst/>
              </a:prstGeom>
              <a:solidFill>
                <a:srgbClr val="1F548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1435" y="2792"/>
                <a:ext cx="375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计算方法</a:t>
                </a:r>
                <a:endPara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5358" y="2686"/>
              <a:ext cx="3789" cy="758"/>
              <a:chOff x="1402" y="2686"/>
              <a:chExt cx="3789" cy="758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1435" y="2686"/>
                <a:ext cx="3756" cy="758"/>
              </a:xfrm>
              <a:prstGeom prst="rect">
                <a:avLst/>
              </a:prstGeom>
              <a:solidFill>
                <a:srgbClr val="1F548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402" y="2792"/>
                <a:ext cx="375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核心原理</a:t>
                </a:r>
                <a:r>
                  <a:rPr lang="en-US" altLang="zh-CN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来源</a:t>
                </a:r>
                <a:endPara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281" y="2686"/>
              <a:ext cx="3756" cy="758"/>
              <a:chOff x="1435" y="2686"/>
              <a:chExt cx="3756" cy="758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435" y="2686"/>
                <a:ext cx="3756" cy="758"/>
              </a:xfrm>
              <a:prstGeom prst="rect">
                <a:avLst/>
              </a:prstGeom>
              <a:solidFill>
                <a:srgbClr val="1F548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435" y="2792"/>
                <a:ext cx="375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特点与</a:t>
                </a:r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</a:t>
                </a:r>
                <a:endPara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581" y="3824"/>
              <a:ext cx="1625" cy="758"/>
              <a:chOff x="1435" y="2686"/>
              <a:chExt cx="4169" cy="758"/>
            </a:xfrm>
            <a:solidFill>
              <a:srgbClr val="F6FAFB"/>
            </a:solidFill>
          </p:grpSpPr>
          <p:sp>
            <p:nvSpPr>
              <p:cNvPr id="22" name="矩形 21"/>
              <p:cNvSpPr/>
              <p:nvPr/>
            </p:nvSpPr>
            <p:spPr>
              <a:xfrm>
                <a:off x="1435" y="2686"/>
                <a:ext cx="3756" cy="7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435" y="2792"/>
                <a:ext cx="4169" cy="5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6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规程法</a:t>
                </a:r>
                <a:endPara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284" y="3710"/>
              <a:ext cx="3863" cy="928"/>
              <a:chOff x="-1826" y="2686"/>
              <a:chExt cx="9718" cy="928"/>
            </a:xfrm>
            <a:solidFill>
              <a:srgbClr val="F6FAFB"/>
            </a:solidFill>
          </p:grpSpPr>
          <p:sp>
            <p:nvSpPr>
              <p:cNvPr id="28" name="矩形 27"/>
              <p:cNvSpPr/>
              <p:nvPr/>
            </p:nvSpPr>
            <p:spPr>
              <a:xfrm>
                <a:off x="1435" y="2686"/>
                <a:ext cx="3756" cy="7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-1826" y="2792"/>
                <a:ext cx="9718" cy="82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</a:t>
                </a:r>
                <a:r>
                  <a:rPr lang="en-US" altLang="zh-CN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220kV</a:t>
                </a:r>
                <a:r>
                  <a:rPr lang="zh-CN" altLang="en-US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新杭线</a:t>
                </a:r>
                <a:r>
                  <a:rPr lang="en-US" altLang="zh-CN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26</a:t>
                </a:r>
                <a:r>
                  <a:rPr lang="zh-CN" altLang="en-US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年实测雷电流幅值统计拟合</a:t>
                </a:r>
                <a:endPara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9281" y="3824"/>
              <a:ext cx="3755" cy="822"/>
              <a:chOff x="-1826" y="2792"/>
              <a:chExt cx="8500" cy="822"/>
            </a:xfrm>
            <a:solidFill>
              <a:srgbClr val="F6FAFB"/>
            </a:solidFill>
          </p:grpSpPr>
          <p:sp>
            <p:nvSpPr>
              <p:cNvPr id="31" name="矩形 30"/>
              <p:cNvSpPr/>
              <p:nvPr/>
            </p:nvSpPr>
            <p:spPr>
              <a:xfrm>
                <a:off x="1435" y="2792"/>
                <a:ext cx="3756" cy="7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-1826" y="2792"/>
                <a:ext cx="8500" cy="82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权威基础</a:t>
                </a:r>
                <a:r>
                  <a:rPr lang="en-US" altLang="zh-CN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sz="1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我国输电线路防雷设计的长期指导准则</a:t>
                </a:r>
                <a:endPara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>
              <a:off x="9282" y="6754"/>
              <a:ext cx="3839" cy="822"/>
            </a:xfrm>
            <a:prstGeom prst="rect">
              <a:avLst/>
            </a:prstGeom>
            <a:solidFill>
              <a:srgbClr val="F6FAFB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高精度</a:t>
              </a:r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得到工程界广泛认可，适用于复杂工况分析</a:t>
              </a:r>
              <a:endPara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308" y="6754"/>
              <a:ext cx="3839" cy="822"/>
            </a:xfrm>
            <a:prstGeom prst="rect">
              <a:avLst/>
            </a:prstGeom>
            <a:solidFill>
              <a:srgbClr val="F6FAFB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电力系统通用电磁暂态计算程序</a:t>
              </a:r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目前国际通行</a:t>
              </a:r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581" y="6657"/>
              <a:ext cx="1738" cy="919"/>
            </a:xfrm>
            <a:prstGeom prst="rect">
              <a:avLst/>
            </a:prstGeom>
            <a:solidFill>
              <a:srgbClr val="EDF1F2"/>
            </a:solidFill>
          </p:spPr>
          <p:txBody>
            <a:bodyPr wrap="square" rtlCol="0">
              <a:spAutoFit/>
            </a:bodyPr>
            <a:p>
              <a:pPr algn="ctr"/>
              <a:r>
                <a:rPr lang="en-US" altLang="zh-CN" sz="1600" spc="-10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ATP-EMTP</a:t>
              </a:r>
              <a:r>
                <a:rPr lang="zh-CN" altLang="en-US" sz="1600" spc="-10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仿真法</a:t>
              </a:r>
              <a:endParaRPr lang="zh-CN" altLang="en-US" sz="1600" spc="-1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2570" y="5272"/>
              <a:ext cx="1475" cy="919"/>
            </a:xfrm>
            <a:prstGeom prst="rect">
              <a:avLst/>
            </a:prstGeom>
            <a:solidFill>
              <a:srgbClr val="E1EBF4"/>
            </a:solidFill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Monte Carlo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216" y="5270"/>
              <a:ext cx="3905" cy="919"/>
            </a:xfrm>
            <a:prstGeom prst="rect">
              <a:avLst/>
            </a:prstGeom>
            <a:solidFill>
              <a:srgbClr val="E1EBF4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600" spc="-10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统计特性强</a:t>
              </a:r>
              <a:r>
                <a:rPr lang="en-US" altLang="zh-CN" sz="1600" spc="-10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600" spc="-10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考虑随机性</a:t>
              </a:r>
              <a:endParaRPr lang="zh-CN" altLang="en-US" sz="1600" spc="-1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spc="-10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但闪络判据不易确定</a:t>
              </a:r>
              <a:endParaRPr lang="zh-CN" altLang="en-US" sz="1600" spc="-1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5284" y="5285"/>
              <a:ext cx="3862" cy="822"/>
            </a:xfrm>
            <a:prstGeom prst="rect">
              <a:avLst/>
            </a:prstGeom>
            <a:solidFill>
              <a:srgbClr val="E1EBF4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400" spc="-10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利用计算机随机产生雷电流幅值、波头时间等多参数统计量</a:t>
              </a:r>
              <a:endParaRPr lang="zh-CN" altLang="en-US" sz="1400" spc="-1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雷电流模型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20700" y="1588135"/>
            <a:ext cx="3318510" cy="4445635"/>
            <a:chOff x="1462" y="2371"/>
            <a:chExt cx="5990" cy="7683"/>
          </a:xfrm>
        </p:grpSpPr>
        <p:grpSp>
          <p:nvGrpSpPr>
            <p:cNvPr id="21" name="组合 20"/>
            <p:cNvGrpSpPr/>
            <p:nvPr/>
          </p:nvGrpSpPr>
          <p:grpSpPr>
            <a:xfrm>
              <a:off x="1462" y="2371"/>
              <a:ext cx="5990" cy="7683"/>
              <a:chOff x="920" y="4601"/>
              <a:chExt cx="17487" cy="2078"/>
            </a:xfrm>
          </p:grpSpPr>
          <p:sp>
            <p:nvSpPr>
              <p:cNvPr id="23" name="矩形 22"/>
              <p:cNvSpPr/>
              <p:nvPr>
                <p:custDataLst>
                  <p:tags r:id="rId2"/>
                </p:custDataLst>
              </p:nvPr>
            </p:nvSpPr>
            <p:spPr>
              <a:xfrm>
                <a:off x="920" y="4623"/>
                <a:ext cx="17487" cy="2056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3"/>
                </p:custDataLst>
              </p:nvPr>
            </p:nvSpPr>
            <p:spPr>
              <a:xfrm>
                <a:off x="920" y="4601"/>
                <a:ext cx="17452" cy="206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95" y="4147"/>
              <a:ext cx="5312" cy="3686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484" y="2461"/>
              <a:ext cx="5968" cy="1372"/>
            </a:xfrm>
            <a:prstGeom prst="rect">
              <a:avLst/>
            </a:prstGeom>
            <a:noFill/>
            <a:effectLst>
              <a:outerShdw blurRad="127000" dist="50800" dir="5400000" algn="ctr" rotWithShape="0">
                <a:srgbClr val="000000">
                  <a:alpha val="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p>
              <a:pPr algn="ctr"/>
              <a:r>
                <a:rPr lang="en-US" altLang="zh-CN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</a:t>
              </a: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雷电流波形描述</a:t>
              </a:r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2.6/50μs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采用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负极性双斜角波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340" y="8147"/>
              <a:ext cx="4341" cy="1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符合</a:t>
              </a:r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GB/T 50064-2014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推荐规范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273550" y="1569085"/>
            <a:ext cx="3442970" cy="4445635"/>
            <a:chOff x="8070" y="2480"/>
            <a:chExt cx="5991" cy="7683"/>
          </a:xfrm>
        </p:grpSpPr>
        <p:grpSp>
          <p:nvGrpSpPr>
            <p:cNvPr id="10" name="组合 9"/>
            <p:cNvGrpSpPr/>
            <p:nvPr/>
          </p:nvGrpSpPr>
          <p:grpSpPr>
            <a:xfrm>
              <a:off x="8071" y="2480"/>
              <a:ext cx="5990" cy="7683"/>
              <a:chOff x="920" y="4601"/>
              <a:chExt cx="17487" cy="2078"/>
            </a:xfrm>
          </p:grpSpPr>
          <p:sp>
            <p:nvSpPr>
              <p:cNvPr id="11" name="矩形 10"/>
              <p:cNvSpPr/>
              <p:nvPr>
                <p:custDataLst>
                  <p:tags r:id="rId5"/>
                </p:custDataLst>
              </p:nvPr>
            </p:nvSpPr>
            <p:spPr>
              <a:xfrm>
                <a:off x="920" y="4623"/>
                <a:ext cx="17487" cy="2056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920" y="4601"/>
                <a:ext cx="17452" cy="206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8082" y="2624"/>
              <a:ext cx="5979" cy="1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2.ATP-EMTP</a:t>
              </a:r>
              <a:endPara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等效仿真模型</a:t>
              </a:r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081" y="4270"/>
              <a:ext cx="2822" cy="2278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27" name="文本框 26"/>
            <p:cNvSpPr txBox="1"/>
            <p:nvPr/>
          </p:nvSpPr>
          <p:spPr>
            <a:xfrm>
              <a:off x="8070" y="6705"/>
              <a:ext cx="5979" cy="1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在反击计算中，雷电波阻抗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Z</a:t>
              </a:r>
              <a:r>
                <a:rPr lang="en-US" altLang="zh-CN" sz="20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取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300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欧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070" y="7774"/>
              <a:ext cx="5979" cy="1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在绕击计算中，雷电波阻抗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Z</a:t>
              </a:r>
              <a:r>
                <a:rPr lang="en-US" altLang="zh-CN" sz="20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取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800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欧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12" y="4269"/>
              <a:ext cx="2247" cy="2191"/>
            </a:xfrm>
            <a:prstGeom prst="rect">
              <a:avLst/>
            </a:prstGeom>
            <a:effectLst>
              <a:softEdge rad="31750"/>
            </a:effectLst>
          </p:spPr>
        </p:pic>
        <p:sp>
          <p:nvSpPr>
            <p:cNvPr id="30" name="文本框 29"/>
            <p:cNvSpPr txBox="1"/>
            <p:nvPr/>
          </p:nvSpPr>
          <p:spPr>
            <a:xfrm>
              <a:off x="8081" y="8897"/>
              <a:ext cx="5968" cy="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Z</a:t>
              </a:r>
              <a:r>
                <a:rPr lang="en-US" altLang="zh-CN" sz="20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为主放电通道波阻抗特性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8144510" y="1569085"/>
            <a:ext cx="3546475" cy="4445000"/>
            <a:chOff x="12826" y="2471"/>
            <a:chExt cx="5585" cy="7000"/>
          </a:xfrm>
        </p:grpSpPr>
        <p:grpSp>
          <p:nvGrpSpPr>
            <p:cNvPr id="32" name="组合 31"/>
            <p:cNvGrpSpPr/>
            <p:nvPr/>
          </p:nvGrpSpPr>
          <p:grpSpPr>
            <a:xfrm>
              <a:off x="12826" y="2471"/>
              <a:ext cx="5583" cy="7001"/>
              <a:chOff x="8069" y="2480"/>
              <a:chExt cx="5992" cy="7683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8071" y="2480"/>
                <a:ext cx="5990" cy="7683"/>
                <a:chOff x="920" y="4601"/>
                <a:chExt cx="17487" cy="2078"/>
              </a:xfrm>
            </p:grpSpPr>
            <p:sp>
              <p:nvSpPr>
                <p:cNvPr id="34" name="矩形 33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920" y="4623"/>
                  <a:ext cx="17487" cy="2056"/>
                </a:xfrm>
                <a:prstGeom prst="rect">
                  <a:avLst/>
                </a:prstGeom>
                <a:solidFill>
                  <a:schemeClr val="accent1">
                    <a:alpha val="6869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920" y="4601"/>
                  <a:ext cx="17452" cy="206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6" name="文本框 35"/>
              <p:cNvSpPr txBox="1"/>
              <p:nvPr/>
            </p:nvSpPr>
            <p:spPr>
              <a:xfrm>
                <a:off x="8082" y="2624"/>
                <a:ext cx="5979" cy="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3.</a:t>
                </a:r>
                <a:r>
                  <a:rPr lang="zh-CN" altLang="en-US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幅值概率</a:t>
                </a:r>
                <a:r>
                  <a:rPr lang="zh-CN" altLang="en-US" sz="24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分布</a:t>
                </a:r>
                <a:endPara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8079" y="5597"/>
                    <a:ext cx="5979" cy="23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l">
                      <a:lnSpc>
                        <a:spcPct val="100000"/>
                      </a:lnSpc>
                    </a:pPr>
                    <a:r>
                      <a: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改进型</a:t>
                    </a:r>
                    <a:r>
                      <a: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IEEE</a:t>
                    </a:r>
                    <a:r>
                      <a: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统计</a:t>
                    </a:r>
                    <a:r>
                      <a: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模型：</a:t>
                    </a:r>
                    <a:endParaRPr lang="zh-CN" altLang="en-US" sz="2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0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𝑷</m:t>
                          </m:r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charset="0"/>
                                      <a:ea typeface="微软雅黑" panose="020B0503020204020204" pitchFamily="3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latin typeface="Cambria Math" panose="02040503050406030204" charset="0"/>
                                      <a:ea typeface="微软雅黑" panose="020B0503020204020204" pitchFamily="34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altLang="zh-CN" sz="2000" b="1" i="1">
                                          <a:latin typeface="Cambria Math" panose="02040503050406030204" charset="0"/>
                                          <a:ea typeface="微软雅黑" panose="020B0503020204020204" pitchFamily="34" charset="-122"/>
                                          <a:cs typeface="Cambria Math" panose="02040503050406030204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000" b="1" i="1">
                                              <a:latin typeface="Cambria Math" panose="02040503050406030204" charset="0"/>
                                              <a:ea typeface="微软雅黑" panose="020B0503020204020204" pitchFamily="34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charset="0"/>
                                              <a:ea typeface="微软雅黑" panose="020B0503020204020204" pitchFamily="34" charset="-122"/>
                                              <a:cs typeface="Cambria Math" panose="02040503050406030204" charset="0"/>
                                            </a:rPr>
                                            <m:t>𝑰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1" i="1">
                                              <a:latin typeface="Cambria Math" panose="02040503050406030204" charset="0"/>
                                              <a:ea typeface="微软雅黑" panose="020B0503020204020204" pitchFamily="34" charset="-122"/>
                                              <a:cs typeface="Cambria Math" panose="02040503050406030204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000" b="1" i="1">
                                          <a:latin typeface="Cambria Math" panose="02040503050406030204" charset="0"/>
                                          <a:ea typeface="微软雅黑" panose="020B0503020204020204" pitchFamily="34" charset="-122"/>
                                          <a:cs typeface="Cambria Math" panose="02040503050406030204" charset="0"/>
                                        </a:rPr>
                                        <m:t>𝒂</m:t>
                                      </m:r>
                                    </m:den>
                                  </m:f>
                                  <m:r>
                                    <a:rPr lang="en-US" altLang="zh-CN" sz="2000" b="1" i="1">
                                      <a:latin typeface="Cambria Math" panose="02040503050406030204" charset="0"/>
                                      <a:ea typeface="微软雅黑" panose="020B0503020204020204" pitchFamily="34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latin typeface="Cambria Math" panose="02040503050406030204" charset="0"/>
                                      <a:ea typeface="微软雅黑" panose="020B0503020204020204" pitchFamily="34" charset="-122"/>
                                      <a:cs typeface="Cambria Math" panose="02040503050406030204" charset="0"/>
                                    </a:rPr>
                                    <m:t>𝒃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ea typeface="微软雅黑" panose="020B0503020204020204" pitchFamily="34" charset="-122"/>
                      <a:cs typeface="Cambria Math" panose="02040503050406030204" charset="0"/>
                    </a:endParaRPr>
                  </a:p>
                  <a:p>
                    <a:pPr algn="l">
                      <a:lnSpc>
                        <a:spcPct val="100000"/>
                      </a:lnSpc>
                    </a:pPr>
                    <a:r>
                      <a: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其中，</a:t>
                    </a:r>
                    <a:r>
                      <a: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a=28.96</a:t>
                    </a:r>
                    <a:r>
                      <a: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，</a:t>
                    </a:r>
                    <a:r>
                      <a: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b=3.4</a:t>
                    </a:r>
                    <a:endParaRPr lang="en-US" altLang="zh-CN" sz="2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</mc:Choice>
            <mc:Fallback>
              <p:sp>
                <p:nvSpPr>
                  <p:cNvPr id="38" name="文本框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79" y="5597"/>
                    <a:ext cx="5979" cy="2341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文本框 38"/>
                  <p:cNvSpPr txBox="1"/>
                  <p:nvPr/>
                </p:nvSpPr>
                <p:spPr>
                  <a:xfrm>
                    <a:off x="8069" y="3662"/>
                    <a:ext cx="5979" cy="14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l"/>
                    <a:r>
                      <a: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规程</a:t>
                    </a:r>
                    <a:r>
                      <a: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推荐：</a:t>
                    </a:r>
                    <a:endParaRPr lang="zh-CN" altLang="en-US" sz="2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𝑷</m:t>
                          </m:r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</a:rPr>
                            <m:t>)=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b="1" i="1">
                                      <a:latin typeface="Cambria Math" panose="02040503050406030204" charset="0"/>
                                      <a:ea typeface="微软雅黑" panose="020B0503020204020204" pitchFamily="34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charset="0"/>
                                          <a:ea typeface="微软雅黑" panose="020B0503020204020204" pitchFamily="34" charset="-122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charset="0"/>
                                          <a:ea typeface="微软雅黑" panose="020B0503020204020204" pitchFamily="34" charset="-122"/>
                                          <a:cs typeface="Cambria Math" panose="02040503050406030204" charset="0"/>
                                        </a:rPr>
                                        <m:t>𝑰</m:t>
                                      </m:r>
                                    </m:e>
                                    <m:sub>
                                      <m:r>
                                        <a:rPr lang="en-US" altLang="zh-CN" sz="2000" b="1" i="1">
                                          <a:latin typeface="Cambria Math" panose="02040503050406030204" charset="0"/>
                                          <a:ea typeface="微软雅黑" panose="020B0503020204020204" pitchFamily="34" charset="-122"/>
                                          <a:cs typeface="Cambria Math" panose="02040503050406030204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b="1" i="1">
                                      <a:latin typeface="Cambria Math" panose="02040503050406030204" charset="0"/>
                                      <a:ea typeface="微软雅黑" panose="020B0503020204020204" pitchFamily="34" charset="-122"/>
                                      <a:cs typeface="Cambria Math" panose="02040503050406030204" charset="0"/>
                                    </a:rPr>
                                    <m:t>𝟖𝟖</m:t>
                                  </m:r>
                                </m:den>
                              </m:f>
                            </m:sup>
                          </m:sSup>
                        </m:oMath>
                      </m:oMathPara>
                    </a14:m>
                    <a:endParaRPr lang="en-US" altLang="zh-CN" sz="2000" b="1" i="1">
                      <a:latin typeface="Cambria Math" panose="02040503050406030204" charset="0"/>
                      <a:ea typeface="微软雅黑" panose="020B0503020204020204" pitchFamily="34" charset="-122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9" name="文本框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69" y="3662"/>
                    <a:ext cx="5979" cy="148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文本框 40"/>
              <p:cNvSpPr txBox="1"/>
              <p:nvPr/>
            </p:nvSpPr>
            <p:spPr>
              <a:xfrm>
                <a:off x="8081" y="8897"/>
                <a:ext cx="5968" cy="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42" name="文本框 41"/>
            <p:cNvSpPr txBox="1"/>
            <p:nvPr/>
          </p:nvSpPr>
          <p:spPr>
            <a:xfrm>
              <a:off x="12837" y="7557"/>
              <a:ext cx="5575" cy="12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基于近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年监测数据，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依据广东地闪实测数据拟合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Hara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多波阻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抗杆塔模型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20700" y="1588135"/>
            <a:ext cx="4566920" cy="4048760"/>
            <a:chOff x="1462" y="2371"/>
            <a:chExt cx="5990" cy="7683"/>
          </a:xfrm>
        </p:grpSpPr>
        <p:grpSp>
          <p:nvGrpSpPr>
            <p:cNvPr id="21" name="组合 20"/>
            <p:cNvGrpSpPr/>
            <p:nvPr/>
          </p:nvGrpSpPr>
          <p:grpSpPr>
            <a:xfrm>
              <a:off x="1462" y="2371"/>
              <a:ext cx="5990" cy="7683"/>
              <a:chOff x="920" y="4601"/>
              <a:chExt cx="17487" cy="2078"/>
            </a:xfrm>
          </p:grpSpPr>
          <p:sp>
            <p:nvSpPr>
              <p:cNvPr id="23" name="矩形 22"/>
              <p:cNvSpPr/>
              <p:nvPr>
                <p:custDataLst>
                  <p:tags r:id="rId2"/>
                </p:custDataLst>
              </p:nvPr>
            </p:nvSpPr>
            <p:spPr>
              <a:xfrm>
                <a:off x="920" y="4623"/>
                <a:ext cx="17487" cy="2056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3"/>
                </p:custDataLst>
              </p:nvPr>
            </p:nvSpPr>
            <p:spPr>
              <a:xfrm>
                <a:off x="920" y="4601"/>
                <a:ext cx="17452" cy="206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1484" y="2461"/>
              <a:ext cx="5968" cy="1064"/>
            </a:xfrm>
            <a:prstGeom prst="rect">
              <a:avLst/>
            </a:prstGeom>
            <a:noFill/>
            <a:effectLst>
              <a:outerShdw blurRad="127000" dist="50800" dir="5400000" algn="ctr" rotWithShape="0">
                <a:srgbClr val="000000">
                  <a:alpha val="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p>
              <a:pPr algn="ctr"/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杆塔模型</a:t>
              </a: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概述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880" y="1838960"/>
            <a:ext cx="5398770" cy="38176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33400" y="2416810"/>
            <a:ext cx="3299460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Hara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多波阻抗模型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0700" y="2987675"/>
            <a:ext cx="3299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2135" y="3484880"/>
            <a:ext cx="4409440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参数获取容易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完全依据杆塔实际几何尺寸计算得出。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0700" y="4535170"/>
            <a:ext cx="4448810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实际吻合度高：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仿真波响应特性与真塔最为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接近。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27265" y="5656580"/>
            <a:ext cx="3072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Hara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多波阻抗杆塔模型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绝缘子闪络判据与杆塔接地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>
            <p:custDataLst>
              <p:tags r:id="rId2"/>
            </p:custDataLst>
          </p:nvPr>
        </p:nvSpPr>
        <p:spPr>
          <a:xfrm>
            <a:off x="8415655" y="1616075"/>
            <a:ext cx="3274060" cy="3999865"/>
          </a:xfrm>
          <a:prstGeom prst="rect">
            <a:avLst/>
          </a:prstGeom>
          <a:solidFill>
            <a:schemeClr val="accent1">
              <a:alpha val="686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>
            <p:custDataLst>
              <p:tags r:id="rId3"/>
            </p:custDataLst>
          </p:nvPr>
        </p:nvSpPr>
        <p:spPr>
          <a:xfrm>
            <a:off x="8415655" y="1569085"/>
            <a:ext cx="3267710" cy="400748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8390255" y="1652270"/>
            <a:ext cx="3299460" cy="3798570"/>
            <a:chOff x="13213" y="2602"/>
            <a:chExt cx="5196" cy="5982"/>
          </a:xfrm>
        </p:grpSpPr>
        <p:sp>
          <p:nvSpPr>
            <p:cNvPr id="36" name="文本框 35"/>
            <p:cNvSpPr txBox="1"/>
            <p:nvPr/>
          </p:nvSpPr>
          <p:spPr>
            <a:xfrm>
              <a:off x="13263" y="2602"/>
              <a:ext cx="51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杆塔接地</a:t>
              </a: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电阻</a:t>
              </a:r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/>
                <p:cNvSpPr txBox="1"/>
                <p:nvPr/>
              </p:nvSpPr>
              <p:spPr>
                <a:xfrm>
                  <a:off x="13213" y="5400"/>
                  <a:ext cx="5146" cy="31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>
                    <a:lnSpc>
                      <a:spcPct val="100000"/>
                    </a:lnSpc>
                  </a:pPr>
                  <a:r>
                    <a:rPr lang="zh-CN" altLang="en-US" sz="2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采用计及土壤电离效应的冲击接地电阻</a:t>
                  </a:r>
                  <a:r>
                    <a:rPr lang="zh-CN" altLang="en-US" sz="20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模型。</a:t>
                  </a:r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  <a:p>
                  <a:pPr algn="l">
                    <a:lnSpc>
                      <a:spcPct val="1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charset="0"/>
                                <a:ea typeface="微软雅黑" panose="020B0503020204020204" pitchFamily="34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charset="0"/>
                                    <a:ea typeface="微软雅黑" panose="020B0503020204020204" pitchFamily="34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charset="0"/>
                                    <a:ea typeface="微软雅黑" panose="020B0503020204020204" pitchFamily="34" charset="-122"/>
                                    <a:cs typeface="Cambria Math" panose="0204050305040603020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charset="0"/>
                                    <a:ea typeface="微软雅黑" panose="020B0503020204020204" pitchFamily="34" charset="-122"/>
                                    <a:cs typeface="Cambria Math" panose="02040503050406030204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000" i="1">
                                    <a:latin typeface="Cambria Math" panose="02040503050406030204" charset="0"/>
                                    <a:ea typeface="微软雅黑" panose="020B0503020204020204" pitchFamily="34" charset="-122"/>
                                    <a:cs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000" i="1">
                                    <a:latin typeface="Cambria Math" panose="02040503050406030204" charset="0"/>
                                    <a:ea typeface="微软雅黑" panose="020B0503020204020204" pitchFamily="34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altLang="zh-CN" sz="2000" i="1">
                                    <a:latin typeface="Cambria Math" panose="02040503050406030204" charset="0"/>
                                    <a:ea typeface="微软雅黑" panose="020B0503020204020204" pitchFamily="3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CN" sz="2000" i="1">
                                        <a:latin typeface="Cambria Math" panose="02040503050406030204" charset="0"/>
                                        <a:ea typeface="微软雅黑" panose="020B0503020204020204" pitchFamily="34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latin typeface="Cambria Math" panose="02040503050406030204" charset="0"/>
                                        <a:ea typeface="微软雅黑" panose="020B0503020204020204" pitchFamily="34" charset="-122"/>
                                        <a:cs typeface="Cambria Math" panose="02040503050406030204" charset="0"/>
                                      </a:rPr>
                                      <m:t>𝐼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charset="0"/>
                                            <a:ea typeface="微软雅黑" panose="020B0503020204020204" pitchFamily="34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charset="0"/>
                                            <a:ea typeface="微软雅黑" panose="020B0503020204020204" pitchFamily="34" charset="-122"/>
                                            <a:cs typeface="Cambria Math" panose="02040503050406030204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charset="0"/>
                                            <a:ea typeface="微软雅黑" panose="020B0503020204020204" pitchFamily="34" charset="-122"/>
                                            <a:cs typeface="Cambria Math" panose="02040503050406030204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altLang="zh-CN" sz="2000" i="1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endParaRPr>
                </a:p>
                <a:p>
                  <a:pPr algn="l">
                    <a:lnSpc>
                      <a:spcPct val="100000"/>
                    </a:lnSpc>
                  </a:pPr>
                  <a:endPara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2000" b="1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雷电流越大，接地电阻越小</a:t>
                  </a:r>
                  <a:endParaRPr lang="zh-CN" altLang="en-US" sz="20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8" name="文本框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13" y="5400"/>
                  <a:ext cx="5146" cy="318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文本框 38"/>
            <p:cNvSpPr txBox="1"/>
            <p:nvPr/>
          </p:nvSpPr>
          <p:spPr>
            <a:xfrm>
              <a:off x="13262" y="3833"/>
              <a:ext cx="5146" cy="13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雷电流入地时，接地体附近的土壤电离导致接地电阻非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线性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2327910" y="1480185"/>
            <a:ext cx="3543935" cy="631825"/>
            <a:chOff x="8071" y="2480"/>
            <a:chExt cx="5990" cy="1202"/>
          </a:xfrm>
        </p:grpSpPr>
        <p:grpSp>
          <p:nvGrpSpPr>
            <p:cNvPr id="13" name="组合 12"/>
            <p:cNvGrpSpPr/>
            <p:nvPr/>
          </p:nvGrpSpPr>
          <p:grpSpPr>
            <a:xfrm>
              <a:off x="8071" y="2480"/>
              <a:ext cx="5990" cy="1202"/>
              <a:chOff x="920" y="4601"/>
              <a:chExt cx="17487" cy="325"/>
            </a:xfrm>
          </p:grpSpPr>
          <p:sp>
            <p:nvSpPr>
              <p:cNvPr id="14" name="矩形 13"/>
              <p:cNvSpPr/>
              <p:nvPr>
                <p:custDataLst>
                  <p:tags r:id="rId5"/>
                </p:custDataLst>
              </p:nvPr>
            </p:nvSpPr>
            <p:spPr>
              <a:xfrm>
                <a:off x="920" y="4623"/>
                <a:ext cx="17487" cy="294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5" name="矩形 14"/>
              <p:cNvSpPr/>
              <p:nvPr>
                <p:custDataLst>
                  <p:tags r:id="rId6"/>
                </p:custDataLst>
              </p:nvPr>
            </p:nvSpPr>
            <p:spPr>
              <a:xfrm>
                <a:off x="920" y="4601"/>
                <a:ext cx="17452" cy="32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8082" y="2624"/>
              <a:ext cx="5979" cy="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绝缘子闪络判据方法比较</a:t>
              </a:r>
              <a:endPara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aphicFrame>
        <p:nvGraphicFramePr>
          <p:cNvPr id="24" name="表格 23"/>
          <p:cNvGraphicFramePr/>
          <p:nvPr/>
        </p:nvGraphicFramePr>
        <p:xfrm>
          <a:off x="372110" y="2513330"/>
          <a:ext cx="7748905" cy="3267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010"/>
                <a:gridCol w="1844675"/>
                <a:gridCol w="2245360"/>
                <a:gridCol w="2308860"/>
              </a:tblGrid>
              <a:tr h="523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方法名称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核心原理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适用范围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优缺点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892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标准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</a:t>
                      </a:r>
                      <a:r>
                        <a:rPr lang="en-US" altLang="zh-CN" baseline="-2500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50%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法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基于峰值电压，忽略时间因子。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简单工程初步估算。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优：计算简单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缺：精度低，忽略波形暂态。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892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伏秒特性法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考虑不同暂态波形的击穿时间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复杂波形初步分析基础。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优：考虑波形参数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缺：数据获得难，伏秒曲线不易得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892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先导发展法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动态物理过程模拟（流注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先导）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国际通用，工程暂态分析。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优：高精度，广泛适用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缺：计算最复杂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kumimoji="1"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ATP-EMTP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的电磁暂态仿真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050" y="1609090"/>
            <a:ext cx="3782695" cy="460883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 rot="0">
            <a:off x="3561715" y="1598930"/>
            <a:ext cx="1107440" cy="467995"/>
            <a:chOff x="8071" y="2480"/>
            <a:chExt cx="5990" cy="1202"/>
          </a:xfrm>
        </p:grpSpPr>
        <p:grpSp>
          <p:nvGrpSpPr>
            <p:cNvPr id="10" name="组合 9"/>
            <p:cNvGrpSpPr/>
            <p:nvPr/>
          </p:nvGrpSpPr>
          <p:grpSpPr>
            <a:xfrm>
              <a:off x="8071" y="2480"/>
              <a:ext cx="5990" cy="1202"/>
              <a:chOff x="920" y="4601"/>
              <a:chExt cx="17487" cy="325"/>
            </a:xfrm>
          </p:grpSpPr>
          <p:sp>
            <p:nvSpPr>
              <p:cNvPr id="11" name="矩形 10"/>
              <p:cNvSpPr/>
              <p:nvPr>
                <p:custDataLst>
                  <p:tags r:id="rId3"/>
                </p:custDataLst>
              </p:nvPr>
            </p:nvSpPr>
            <p:spPr>
              <a:xfrm>
                <a:off x="920" y="4623"/>
                <a:ext cx="17487" cy="294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920" y="4601"/>
                <a:ext cx="17452" cy="32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8082" y="2624"/>
              <a:ext cx="5979" cy="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雷电流源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6434455" y="1483995"/>
            <a:ext cx="1308100" cy="716915"/>
          </a:xfrm>
          <a:prstGeom prst="roundRect">
            <a:avLst/>
          </a:prstGeom>
          <a:noFill/>
          <a:ln w="2222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5115560" y="1721485"/>
            <a:ext cx="872490" cy="222885"/>
          </a:xfrm>
          <a:prstGeom prst="rightArrow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3945" y="2432685"/>
            <a:ext cx="2938145" cy="3630295"/>
          </a:xfrm>
          <a:prstGeom prst="rect">
            <a:avLst/>
          </a:prstGeom>
        </p:spPr>
      </p:pic>
      <p:sp>
        <p:nvSpPr>
          <p:cNvPr id="32" name="圆角矩形 31"/>
          <p:cNvSpPr/>
          <p:nvPr/>
        </p:nvSpPr>
        <p:spPr>
          <a:xfrm>
            <a:off x="6240145" y="2728595"/>
            <a:ext cx="2520315" cy="3489325"/>
          </a:xfrm>
          <a:prstGeom prst="roundRect">
            <a:avLst/>
          </a:prstGeom>
          <a:noFill/>
          <a:ln w="2222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5115560" y="3833495"/>
            <a:ext cx="1075690" cy="251460"/>
          </a:xfrm>
          <a:prstGeom prst="rightArrow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053715" y="6131560"/>
            <a:ext cx="2238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Hara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多波阻抗模型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kumimoji="1"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ATP-EMTP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的电磁暂态仿真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050" y="1609090"/>
            <a:ext cx="3782695" cy="4608830"/>
          </a:xfrm>
          <a:prstGeom prst="rect">
            <a:avLst/>
          </a:prstGeom>
        </p:spPr>
      </p:pic>
      <p:sp>
        <p:nvSpPr>
          <p:cNvPr id="32" name="圆角矩形 31"/>
          <p:cNvSpPr/>
          <p:nvPr/>
        </p:nvSpPr>
        <p:spPr>
          <a:xfrm>
            <a:off x="6240145" y="2999740"/>
            <a:ext cx="882650" cy="1919605"/>
          </a:xfrm>
          <a:prstGeom prst="roundRect">
            <a:avLst/>
          </a:prstGeom>
          <a:noFill/>
          <a:ln w="2222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5115560" y="3833495"/>
            <a:ext cx="1075690" cy="251460"/>
          </a:xfrm>
          <a:prstGeom prst="rightArrow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569720" y="2177415"/>
            <a:ext cx="3457575" cy="3161030"/>
            <a:chOff x="484" y="2754"/>
            <a:chExt cx="5324" cy="4780"/>
          </a:xfrm>
        </p:grpSpPr>
        <p:grpSp>
          <p:nvGrpSpPr>
            <p:cNvPr id="19" name="组合 18"/>
            <p:cNvGrpSpPr/>
            <p:nvPr/>
          </p:nvGrpSpPr>
          <p:grpSpPr>
            <a:xfrm rot="0">
              <a:off x="484" y="2754"/>
              <a:ext cx="5325" cy="4780"/>
              <a:chOff x="7714" y="2480"/>
              <a:chExt cx="12111" cy="2448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7714" y="2562"/>
                <a:ext cx="12111" cy="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绝缘子串使用</a:t>
                </a:r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Model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编程来实现先导发展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法</a:t>
                </a: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8071" y="2480"/>
                <a:ext cx="11754" cy="2448"/>
                <a:chOff x="920" y="4601"/>
                <a:chExt cx="34314" cy="662"/>
              </a:xfrm>
            </p:grpSpPr>
            <p:sp>
              <p:nvSpPr>
                <p:cNvPr id="23" name="矩形 22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920" y="4601"/>
                  <a:ext cx="34314" cy="662"/>
                </a:xfrm>
                <a:prstGeom prst="rect">
                  <a:avLst/>
                </a:prstGeom>
                <a:solidFill>
                  <a:schemeClr val="accent1">
                    <a:alpha val="6869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24" name="矩形 2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920" y="4601"/>
                  <a:ext cx="34312" cy="662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" y="4020"/>
              <a:ext cx="5061" cy="33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 rot="0">
            <a:off x="1049020" y="2177415"/>
            <a:ext cx="4335780" cy="2792730"/>
            <a:chOff x="920" y="4601"/>
            <a:chExt cx="34314" cy="662"/>
          </a:xfrm>
        </p:grpSpPr>
        <p:sp>
          <p:nvSpPr>
            <p:cNvPr id="13" name="矩形 12"/>
            <p:cNvSpPr/>
            <p:nvPr>
              <p:custDataLst>
                <p:tags r:id="rId1"/>
              </p:custDataLst>
            </p:nvPr>
          </p:nvSpPr>
          <p:spPr>
            <a:xfrm>
              <a:off x="920" y="4601"/>
              <a:ext cx="34314" cy="662"/>
            </a:xfrm>
            <a:prstGeom prst="rect">
              <a:avLst/>
            </a:prstGeom>
            <a:solidFill>
              <a:schemeClr val="accent1">
                <a:alpha val="686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2"/>
              </p:custDataLst>
            </p:nvPr>
          </p:nvSpPr>
          <p:spPr>
            <a:xfrm>
              <a:off x="920" y="4601"/>
              <a:ext cx="34312" cy="662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kumimoji="1"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ATP-EMTP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的电磁暂态仿真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09090"/>
            <a:ext cx="3782695" cy="4608830"/>
          </a:xfrm>
          <a:prstGeom prst="rect">
            <a:avLst/>
          </a:prstGeom>
        </p:spPr>
      </p:pic>
      <p:sp>
        <p:nvSpPr>
          <p:cNvPr id="32" name="圆角矩形 31"/>
          <p:cNvSpPr/>
          <p:nvPr/>
        </p:nvSpPr>
        <p:spPr>
          <a:xfrm>
            <a:off x="6338570" y="2177415"/>
            <a:ext cx="523875" cy="768985"/>
          </a:xfrm>
          <a:prstGeom prst="roundRect">
            <a:avLst/>
          </a:prstGeom>
          <a:noFill/>
          <a:ln w="22225" cmpd="sng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5469255" y="2416810"/>
            <a:ext cx="737235" cy="251460"/>
          </a:xfrm>
          <a:prstGeom prst="rightArrow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25" y="2946400"/>
            <a:ext cx="4288155" cy="19386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63625" y="2259965"/>
            <a:ext cx="4272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输电线路使用分布式参数，选择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JMarti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模型，两回线路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两根避雷线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地线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989455" y="3569970"/>
            <a:ext cx="96577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spc="3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alculation of lightning resistance performance of bypass</a:t>
            </a:r>
            <a:endParaRPr kumimoji="1" lang="en-US" altLang="zh-CN" sz="2800" b="1" spc="3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89455" y="2583180"/>
            <a:ext cx="910399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kumimoji="1"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绕击耐雷性能计算</a:t>
            </a:r>
            <a:endParaRPr kumimoji="1"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endParaRPr kumimoji="1"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绕击计算方法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绕击耐雷性能计算与建模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表格 23"/>
          <p:cNvGraphicFramePr/>
          <p:nvPr>
            <p:custDataLst>
              <p:tags r:id="rId2"/>
            </p:custDataLst>
          </p:nvPr>
        </p:nvGraphicFramePr>
        <p:xfrm>
          <a:off x="372110" y="1370965"/>
          <a:ext cx="721106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025"/>
                <a:gridCol w="5868035"/>
              </a:tblGrid>
              <a:tr h="4476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方法名称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特点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规程法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虽然计算简便，但通常较少用于 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500kV 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等高电压等级线路的精细化耐雷性能分析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先导发展模型法 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(LPM)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物理过程解释清晰，但由于目前对下行先导发展及上行起始判据等过程尚无法准确定义，模型仍处于完善阶段。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7613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电气几何模型法 </a:t>
                      </a: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(EGM)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理论成熟，能将雷电放电特性与线路结构尺寸（塔高、倾角等）紧密联系 。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430" y="1370965"/>
            <a:ext cx="3084830" cy="38404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517255" y="5382895"/>
            <a:ext cx="30854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雷电绕击导线的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EGM</a:t>
            </a:r>
            <a:r>
              <a:rPr lang="zh-CN" altLang="en-US" sz="16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模型示意图</a:t>
            </a:r>
            <a:endParaRPr lang="zh-CN" altLang="en-US" sz="16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72110" y="4282440"/>
            <a:ext cx="7211060" cy="1931035"/>
            <a:chOff x="586" y="6266"/>
            <a:chExt cx="11356" cy="3041"/>
          </a:xfrm>
        </p:grpSpPr>
        <p:sp>
          <p:nvSpPr>
            <p:cNvPr id="23" name="矩形 22"/>
            <p:cNvSpPr/>
            <p:nvPr>
              <p:custDataLst>
                <p:tags r:id="rId4"/>
              </p:custDataLst>
            </p:nvPr>
          </p:nvSpPr>
          <p:spPr>
            <a:xfrm>
              <a:off x="588" y="6266"/>
              <a:ext cx="11355" cy="3024"/>
            </a:xfrm>
            <a:prstGeom prst="rect">
              <a:avLst/>
            </a:prstGeom>
            <a:solidFill>
              <a:schemeClr val="accent1">
                <a:alpha val="686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>
              <a:off x="587" y="6349"/>
              <a:ext cx="11355" cy="2959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586" y="6571"/>
                  <a:ext cx="11356" cy="26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l"/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EGM</a:t>
                  </a:r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原理基于</a:t>
                  </a:r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“</a:t>
                  </a:r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击距准则</a:t>
                  </a:r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”</a:t>
                  </a:r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，即当雷云下行先导到达被击物体的临界距离时，即向该物体放电。</a:t>
                  </a: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endParaRPr>
                </a:p>
                <a:p>
                  <a:pPr algn="l"/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击距的部分计算公式</a:t>
                  </a:r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如下：</a:t>
                  </a: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endParaRPr>
                </a:p>
                <a:p>
                  <a:pPr algn="l"/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地线击距：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  <a:sym typeface="+mn-ea"/>
                        </a:rPr>
                        <m:t>𝐼</m:t>
                      </m:r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  <a:sym typeface="+mn-ea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  <a:sym typeface="+mn-ea"/>
                        </a:rPr>
                        <m:t>10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𝐼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65</m:t>
                          </m:r>
                        </m:sup>
                      </m:sSup>
                    </m:oMath>
                  </a14:m>
                  <a:endParaRPr lang="en-US" altLang="zh-CN" i="1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endParaRPr>
                </a:p>
                <a:p>
                  <a:pPr algn="l"/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导线击距：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  <a:sym typeface="+mn-ea"/>
                        </a:rPr>
                        <m:t>𝐼</m:t>
                      </m:r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  <a:sym typeface="+mn-ea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63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5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015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  <m:t>.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  <m:t>578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001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pitchFamily="34" charset="-122"/>
                                  <a:cs typeface="Cambria Math" panose="02040503050406030204" charset="0"/>
                                  <a:sym typeface="+mn-ea"/>
                                </a:rPr>
                                <m:t>𝑝ℎ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pitchFamily="34" charset="-122"/>
                              <a:cs typeface="Cambria Math" panose="02040503050406030204" charset="0"/>
                              <a:sym typeface="+mn-ea"/>
                            </a:rPr>
                            <m:t>125</m:t>
                          </m:r>
                        </m:sup>
                      </m:sSup>
                    </m:oMath>
                  </a14:m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endParaRPr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" y="6571"/>
                  <a:ext cx="11356" cy="2688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绕击耐雷水平的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绕击耐雷性能计算与建模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430" y="1370965"/>
            <a:ext cx="3084830" cy="38404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517255" y="5382895"/>
            <a:ext cx="30854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雷电绕击导线的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EGM</a:t>
            </a:r>
            <a:r>
              <a:rPr lang="zh-CN" altLang="en-US" sz="16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模型示意图</a:t>
            </a:r>
            <a:endParaRPr lang="zh-CN" altLang="en-US" sz="16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72110" y="1936750"/>
            <a:ext cx="7211060" cy="3786505"/>
            <a:chOff x="586" y="2575"/>
            <a:chExt cx="11356" cy="5963"/>
          </a:xfrm>
        </p:grpSpPr>
        <p:sp>
          <p:nvSpPr>
            <p:cNvPr id="23" name="矩形 22"/>
            <p:cNvSpPr/>
            <p:nvPr>
              <p:custDataLst>
                <p:tags r:id="rId3"/>
              </p:custDataLst>
            </p:nvPr>
          </p:nvSpPr>
          <p:spPr>
            <a:xfrm>
              <a:off x="586" y="2575"/>
              <a:ext cx="11356" cy="5948"/>
            </a:xfrm>
            <a:prstGeom prst="rect">
              <a:avLst/>
            </a:prstGeom>
            <a:solidFill>
              <a:schemeClr val="accent1">
                <a:alpha val="686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586" y="2575"/>
              <a:ext cx="11356" cy="5963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1" y="2896"/>
              <a:ext cx="5186" cy="5329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586" y="2575"/>
              <a:ext cx="5788" cy="38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lnSpc>
                  <a:spcPct val="150000"/>
                </a:lnSpc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随着雷电流增加，击距逐渐增大，地线屏蔽弧、导线暴露弧、地面屏蔽线逐渐外推。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当雷电流大到一定程度，屏蔽线将最终将导线暴露弧全部包住，即实现对导线的保护。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使用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python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来计算临界雷电电流，即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耐雷水平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，再通过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ATP-EMTP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仿真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验证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989455" y="3569970"/>
            <a:ext cx="96577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Subsequent task plan</a:t>
            </a:r>
            <a:endParaRPr kumimoji="1" lang="en-US" altLang="zh-CN" sz="2800" b="1" spc="3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89455" y="2583180"/>
            <a:ext cx="910399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四、后续任务计划</a:t>
            </a:r>
            <a:endParaRPr kumimoji="1"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endParaRPr kumimoji="1"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后续模型优化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工作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1015" y="107315"/>
            <a:ext cx="3878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后续任务</a:t>
            </a:r>
            <a:r>
              <a:rPr lang="zh-CN" altLang="en-US" sz="2400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</a:t>
            </a:r>
            <a:endParaRPr lang="zh-CN" altLang="en-US" sz="24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260340" y="3033395"/>
            <a:ext cx="1704975" cy="107696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后续计划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肘形连接符 17"/>
          <p:cNvCxnSpPr>
            <a:stCxn id="17" idx="1"/>
          </p:cNvCxnSpPr>
          <p:nvPr/>
        </p:nvCxnSpPr>
        <p:spPr>
          <a:xfrm>
            <a:off x="5509895" y="3190875"/>
            <a:ext cx="887730" cy="890905"/>
          </a:xfrm>
          <a:prstGeom prst="bentConnector5">
            <a:avLst>
              <a:gd name="adj1" fmla="val 100072"/>
              <a:gd name="adj2" fmla="val 100071"/>
              <a:gd name="adj3" fmla="val 7317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466090" y="1654810"/>
            <a:ext cx="4396105" cy="1550670"/>
            <a:chOff x="900" y="3888"/>
            <a:chExt cx="6923" cy="2442"/>
          </a:xfrm>
        </p:grpSpPr>
        <p:grpSp>
          <p:nvGrpSpPr>
            <p:cNvPr id="32" name="组合 31"/>
            <p:cNvGrpSpPr/>
            <p:nvPr>
              <p:custDataLst>
                <p:tags r:id="rId2"/>
              </p:custDataLst>
            </p:nvPr>
          </p:nvGrpSpPr>
          <p:grpSpPr>
            <a:xfrm>
              <a:off x="900" y="4200"/>
              <a:ext cx="6923" cy="2130"/>
              <a:chOff x="874" y="2789"/>
              <a:chExt cx="9506" cy="4800"/>
            </a:xfrm>
          </p:grpSpPr>
          <p:sp>
            <p:nvSpPr>
              <p:cNvPr id="33" name="矩形 32"/>
              <p:cNvSpPr/>
              <p:nvPr>
                <p:custDataLst>
                  <p:tags r:id="rId3"/>
                </p:custDataLst>
              </p:nvPr>
            </p:nvSpPr>
            <p:spPr>
              <a:xfrm>
                <a:off x="960" y="2789"/>
                <a:ext cx="9420" cy="4800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4"/>
                </p:custDataLst>
              </p:nvPr>
            </p:nvSpPr>
            <p:spPr>
              <a:xfrm>
                <a:off x="874" y="2817"/>
                <a:ext cx="9420" cy="477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5" name="iS1iḑe"/>
            <p:cNvSpPr txBox="1"/>
            <p:nvPr>
              <p:custDataLst>
                <p:tags r:id="rId5"/>
              </p:custDataLst>
            </p:nvPr>
          </p:nvSpPr>
          <p:spPr>
            <a:xfrm>
              <a:off x="2740" y="3888"/>
              <a:ext cx="3588" cy="69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完善反击</a:t>
              </a: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模型</a:t>
              </a:r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6"/>
              </p:custDataLst>
            </p:nvPr>
          </p:nvSpPr>
          <p:spPr>
            <a:xfrm>
              <a:off x="1099" y="4579"/>
              <a:ext cx="6495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完善反击模型参数核对与建模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输电线路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参数、杆塔、接地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31495" y="4065270"/>
            <a:ext cx="4396105" cy="1550670"/>
            <a:chOff x="900" y="3888"/>
            <a:chExt cx="6923" cy="2442"/>
          </a:xfrm>
        </p:grpSpPr>
        <p:grpSp>
          <p:nvGrpSpPr>
            <p:cNvPr id="40" name="组合 39"/>
            <p:cNvGrpSpPr/>
            <p:nvPr>
              <p:custDataLst>
                <p:tags r:id="rId7"/>
              </p:custDataLst>
            </p:nvPr>
          </p:nvGrpSpPr>
          <p:grpSpPr>
            <a:xfrm>
              <a:off x="900" y="4200"/>
              <a:ext cx="6923" cy="2130"/>
              <a:chOff x="874" y="2789"/>
              <a:chExt cx="9506" cy="4800"/>
            </a:xfrm>
          </p:grpSpPr>
          <p:sp>
            <p:nvSpPr>
              <p:cNvPr id="41" name="矩形 40"/>
              <p:cNvSpPr/>
              <p:nvPr>
                <p:custDataLst>
                  <p:tags r:id="rId8"/>
                </p:custDataLst>
              </p:nvPr>
            </p:nvSpPr>
            <p:spPr>
              <a:xfrm>
                <a:off x="960" y="2789"/>
                <a:ext cx="9420" cy="4800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42" name="矩形 41"/>
              <p:cNvSpPr/>
              <p:nvPr>
                <p:custDataLst>
                  <p:tags r:id="rId9"/>
                </p:custDataLst>
              </p:nvPr>
            </p:nvSpPr>
            <p:spPr>
              <a:xfrm>
                <a:off x="874" y="2817"/>
                <a:ext cx="9420" cy="477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" name="iS1iḑe"/>
            <p:cNvSpPr txBox="1"/>
            <p:nvPr>
              <p:custDataLst>
                <p:tags r:id="rId10"/>
              </p:custDataLst>
            </p:nvPr>
          </p:nvSpPr>
          <p:spPr>
            <a:xfrm>
              <a:off x="2637" y="3888"/>
              <a:ext cx="3588" cy="69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indent="0" algn="ctr" fontAlgn="auto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仿真测试与校验</a:t>
              </a:r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1"/>
              </p:custDataLst>
            </p:nvPr>
          </p:nvSpPr>
          <p:spPr>
            <a:xfrm>
              <a:off x="1099" y="4579"/>
              <a:ext cx="6495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完善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后开展多次典型杆塔仿真测试，得到反击耐雷水平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298690" y="1643380"/>
            <a:ext cx="4396105" cy="1550670"/>
            <a:chOff x="900" y="3888"/>
            <a:chExt cx="6923" cy="2442"/>
          </a:xfrm>
        </p:grpSpPr>
        <p:grpSp>
          <p:nvGrpSpPr>
            <p:cNvPr id="46" name="组合 45"/>
            <p:cNvGrpSpPr/>
            <p:nvPr>
              <p:custDataLst>
                <p:tags r:id="rId12"/>
              </p:custDataLst>
            </p:nvPr>
          </p:nvGrpSpPr>
          <p:grpSpPr>
            <a:xfrm>
              <a:off x="900" y="4200"/>
              <a:ext cx="6923" cy="2130"/>
              <a:chOff x="874" y="2789"/>
              <a:chExt cx="9506" cy="4800"/>
            </a:xfrm>
          </p:grpSpPr>
          <p:sp>
            <p:nvSpPr>
              <p:cNvPr id="47" name="矩形 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960" y="2789"/>
                <a:ext cx="9420" cy="4800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48" name="矩形 47"/>
              <p:cNvSpPr/>
              <p:nvPr>
                <p:custDataLst>
                  <p:tags r:id="rId14"/>
                </p:custDataLst>
              </p:nvPr>
            </p:nvSpPr>
            <p:spPr>
              <a:xfrm>
                <a:off x="874" y="2817"/>
                <a:ext cx="9420" cy="477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iS1iḑe"/>
            <p:cNvSpPr txBox="1"/>
            <p:nvPr>
              <p:custDataLst>
                <p:tags r:id="rId15"/>
              </p:custDataLst>
            </p:nvPr>
          </p:nvSpPr>
          <p:spPr>
            <a:xfrm>
              <a:off x="2637" y="3888"/>
              <a:ext cx="3588" cy="69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indent="0" algn="ctr" fontAlgn="auto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优化绕击模型</a:t>
              </a:r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6"/>
              </p:custDataLst>
            </p:nvPr>
          </p:nvSpPr>
          <p:spPr>
            <a:xfrm>
              <a:off x="1099" y="4579"/>
              <a:ext cx="6495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建立改进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EGM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模型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引入地物高度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如树木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修正虚高跳闸率预测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298690" y="4046220"/>
            <a:ext cx="4396105" cy="1550670"/>
            <a:chOff x="900" y="3888"/>
            <a:chExt cx="6923" cy="2442"/>
          </a:xfrm>
        </p:grpSpPr>
        <p:grpSp>
          <p:nvGrpSpPr>
            <p:cNvPr id="53" name="组合 52"/>
            <p:cNvGrpSpPr/>
            <p:nvPr>
              <p:custDataLst>
                <p:tags r:id="rId17"/>
              </p:custDataLst>
            </p:nvPr>
          </p:nvGrpSpPr>
          <p:grpSpPr>
            <a:xfrm>
              <a:off x="900" y="4200"/>
              <a:ext cx="6923" cy="2130"/>
              <a:chOff x="874" y="2789"/>
              <a:chExt cx="9506" cy="4800"/>
            </a:xfrm>
          </p:grpSpPr>
          <p:sp>
            <p:nvSpPr>
              <p:cNvPr id="54" name="矩形 53"/>
              <p:cNvSpPr/>
              <p:nvPr>
                <p:custDataLst>
                  <p:tags r:id="rId18"/>
                </p:custDataLst>
              </p:nvPr>
            </p:nvSpPr>
            <p:spPr>
              <a:xfrm>
                <a:off x="960" y="2789"/>
                <a:ext cx="9420" cy="4800"/>
              </a:xfrm>
              <a:prstGeom prst="rect">
                <a:avLst/>
              </a:prstGeom>
              <a:solidFill>
                <a:schemeClr val="accent1">
                  <a:alpha val="686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55" name="矩形 54"/>
              <p:cNvSpPr/>
              <p:nvPr>
                <p:custDataLst>
                  <p:tags r:id="rId19"/>
                </p:custDataLst>
              </p:nvPr>
            </p:nvSpPr>
            <p:spPr>
              <a:xfrm>
                <a:off x="874" y="2817"/>
                <a:ext cx="9420" cy="477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6" name="iS1iḑe"/>
            <p:cNvSpPr txBox="1"/>
            <p:nvPr>
              <p:custDataLst>
                <p:tags r:id="rId20"/>
              </p:custDataLst>
            </p:nvPr>
          </p:nvSpPr>
          <p:spPr>
            <a:xfrm>
              <a:off x="2637" y="3888"/>
              <a:ext cx="3588" cy="69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indent="0" algn="ctr" fontAlgn="auto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全面评估性能</a:t>
              </a:r>
              <a:endPara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21"/>
              </p:custDataLst>
            </p:nvPr>
          </p:nvSpPr>
          <p:spPr>
            <a:xfrm>
              <a:off x="1099" y="4579"/>
              <a:ext cx="6495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>
                <a:lnSpc>
                  <a:spcPct val="150000"/>
                </a:lnSpc>
                <a:buFont typeface="Wingdings" panose="05000000000000000000" charset="0"/>
                <a:buNone/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基于改进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EGM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模型，评估全线绕击耐雷性能水平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cxnSp>
        <p:nvCxnSpPr>
          <p:cNvPr id="60" name="直接箭头连接符 59"/>
          <p:cNvCxnSpPr/>
          <p:nvPr/>
        </p:nvCxnSpPr>
        <p:spPr>
          <a:xfrm flipH="1" flipV="1">
            <a:off x="4887595" y="2556510"/>
            <a:ext cx="575310" cy="63436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17" idx="3"/>
          </p:cNvCxnSpPr>
          <p:nvPr/>
        </p:nvCxnSpPr>
        <p:spPr>
          <a:xfrm flipH="1">
            <a:off x="4968875" y="3952875"/>
            <a:ext cx="541020" cy="56705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6635750" y="2633980"/>
            <a:ext cx="609600" cy="46672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17" idx="5"/>
          </p:cNvCxnSpPr>
          <p:nvPr/>
        </p:nvCxnSpPr>
        <p:spPr>
          <a:xfrm>
            <a:off x="6715760" y="3952875"/>
            <a:ext cx="529590" cy="70993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2.xml><?xml version="1.0" encoding="utf-8"?>
<p:tagLst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3.xml><?xml version="1.0" encoding="utf-8"?>
<p:tagLst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4.xml><?xml version="1.0" encoding="utf-8"?>
<p:tagLst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5.xml><?xml version="1.0" encoding="utf-8"?>
<p:tagLst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6.xml><?xml version="1.0" encoding="utf-8"?>
<p:tagLst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7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8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9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0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1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2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3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4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5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6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7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8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19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20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1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2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3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4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5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6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7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8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29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0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1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2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3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4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5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6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7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8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39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40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41.xml><?xml version="1.0" encoding="utf-8"?>
<p:tagLst xmlns:p="http://schemas.openxmlformats.org/presentationml/2006/main">
  <p:tag name="TABLE_ENDDRAG_ORIGIN_RECT" val="563*196"/>
  <p:tag name="TABLE_ENDDRAG_RECT" val="29*107*563*196"/>
</p:tagLst>
</file>

<file path=ppt/tags/tag42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43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44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45.xml><?xml version="1.0" encoding="utf-8"?>
<p:tagLst xmlns:p="http://schemas.openxmlformats.org/presentationml/2006/main">
  <p:tag name="KSO_WM_DIAGRAM_VIRTUALLY_FRAME" val="{&quot;height&quot;:344.85,&quot;left&quot;:42.75,&quot;top&quot;:119.5,&quot;width&quot;:861.2}"/>
</p:tagLst>
</file>

<file path=ppt/tags/tag46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47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48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49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0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1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2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3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4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5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6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7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8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59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60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61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62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63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64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ags/tag65.xml><?xml version="1.0" encoding="utf-8"?>
<p:tagLst xmlns:p="http://schemas.openxmlformats.org/presentationml/2006/main">
  <p:tag name="KSO_WM_DIAGRAM_VIRTUALLY_FRAME" val="{&quot;height&quot;:367.2,&quot;left&quot;:68.05,&quot;top&quot;:116.6,&quot;width&quot;:819.7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593"/>
      </a:accent1>
      <a:accent2>
        <a:srgbClr val="0045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16569B7BEAFD4E8196537F8893A0A8" ma:contentTypeVersion="15" ma:contentTypeDescription="Create a new document." ma:contentTypeScope="" ma:versionID="2791f40b03eab4f7fcc004a27762eebd">
  <xsd:schema xmlns:xsd="http://www.w3.org/2001/XMLSchema" xmlns:xs="http://www.w3.org/2001/XMLSchema" xmlns:p="http://schemas.microsoft.com/office/2006/metadata/properties" xmlns:ns3="cdd358b4-4f07-40a4-9f73-3ac0d69b7109" targetNamespace="http://schemas.microsoft.com/office/2006/metadata/properties" ma:root="true" ma:fieldsID="15c10a9dcc04e627a424c024f12db733" ns3:_="">
    <xsd:import namespace="cdd358b4-4f07-40a4-9f73-3ac0d69b71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d358b4-4f07-40a4-9f73-3ac0d69b7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d358b4-4f07-40a4-9f73-3ac0d69b7109" xsi:nil="true"/>
  </documentManagement>
</p:properties>
</file>

<file path=customXml/itemProps66.xml><?xml version="1.0" encoding="utf-8"?>
<ds:datastoreItem xmlns:ds="http://schemas.openxmlformats.org/officeDocument/2006/customXml" ds:itemID="{3140A2EE-BAF8-43CD-A9F4-2176353083E5}">
  <ds:schemaRefs/>
</ds:datastoreItem>
</file>

<file path=customXml/itemProps67.xml><?xml version="1.0" encoding="utf-8"?>
<ds:datastoreItem xmlns:ds="http://schemas.openxmlformats.org/officeDocument/2006/customXml" ds:itemID="{F9E4E6E6-7256-46CE-9D42-B49E8391017A}">
  <ds:schemaRefs/>
</ds:datastoreItem>
</file>

<file path=customXml/itemProps68.xml><?xml version="1.0" encoding="utf-8"?>
<ds:datastoreItem xmlns:ds="http://schemas.openxmlformats.org/officeDocument/2006/customXml" ds:itemID="{84AA52E5-0B20-4590-878C-11CEE614486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2120</Words>
  <Application>WPS 演示</Application>
  <PresentationFormat>宽屏</PresentationFormat>
  <Paragraphs>300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Times New Roman</vt:lpstr>
      <vt:lpstr>微软雅黑</vt:lpstr>
      <vt:lpstr>Cambria Math</vt:lpstr>
      <vt:lpstr>Wingdings</vt:lpstr>
      <vt:lpstr>黑体</vt:lpstr>
      <vt:lpstr>Times New Roman</vt:lpstr>
      <vt:lpstr>等线</vt:lpstr>
      <vt:lpstr>Arial Unicode MS</vt:lpstr>
      <vt:lpstr>等线 Light</vt:lpstr>
      <vt:lpstr>Google Sans Text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yang</cp:lastModifiedBy>
  <cp:revision>568</cp:revision>
  <dcterms:created xsi:type="dcterms:W3CDTF">2022-12-07T07:00:00Z</dcterms:created>
  <dcterms:modified xsi:type="dcterms:W3CDTF">2026-03-12T09:43:01Z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0x0101003E16569B7BEAFD4E8196537F8893A0A8</vt:lpwstr>
  </property>
  <property fmtid="{D5CDD505-2E9C-101B-9397-08002B2CF9AE}" pid="3" name="ICV">
    <vt:lpwstr>323639F4DF734CCBADA2B96C82EECEF5_13</vt:lpwstr>
  </property>
  <property fmtid="{D5CDD505-2E9C-101B-9397-08002B2CF9AE}" pid="4" name="KSOProductBuildVer">
    <vt:lpwstr>2052-12.1.0.25225</vt:lpwstr>
  </property>
</Properties>
</file>